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257" r:id="rId3"/>
    <p:sldId id="258" r:id="rId4"/>
    <p:sldId id="262" r:id="rId5"/>
    <p:sldId id="261" r:id="rId6"/>
    <p:sldId id="263" r:id="rId7"/>
    <p:sldId id="264" r:id="rId8"/>
    <p:sldId id="267" r:id="rId9"/>
    <p:sldId id="268" r:id="rId10"/>
    <p:sldId id="270" r:id="rId11"/>
    <p:sldId id="269" r:id="rId12"/>
    <p:sldId id="271" r:id="rId13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E4BC68-700F-96C0-25DC-E37660A83A28}" v="4" dt="2025-03-25T13:26:32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ana Silva Pereira" userId="S::1721250@uab.cat::da7b6d65-d9f1-49cb-aa91-a97b5cf9ff8f" providerId="AD" clId="Web-{A7E4BC68-700F-96C0-25DC-E37660A83A28}"/>
    <pc:docChg chg="modSld">
      <pc:chgData name="Silvana Silva Pereira" userId="S::1721250@uab.cat::da7b6d65-d9f1-49cb-aa91-a97b5cf9ff8f" providerId="AD" clId="Web-{A7E4BC68-700F-96C0-25DC-E37660A83A28}" dt="2025-03-25T13:26:31.496" v="0" actId="20577"/>
      <pc:docMkLst>
        <pc:docMk/>
      </pc:docMkLst>
      <pc:sldChg chg="modSp">
        <pc:chgData name="Silvana Silva Pereira" userId="S::1721250@uab.cat::da7b6d65-d9f1-49cb-aa91-a97b5cf9ff8f" providerId="AD" clId="Web-{A7E4BC68-700F-96C0-25DC-E37660A83A28}" dt="2025-03-25T13:26:31.496" v="0" actId="20577"/>
        <pc:sldMkLst>
          <pc:docMk/>
          <pc:sldMk cId="1959964783" sldId="262"/>
        </pc:sldMkLst>
        <pc:spChg chg="mod">
          <ac:chgData name="Silvana Silva Pereira" userId="S::1721250@uab.cat::da7b6d65-d9f1-49cb-aa91-a97b5cf9ff8f" providerId="AD" clId="Web-{A7E4BC68-700F-96C0-25DC-E37660A83A28}" dt="2025-03-25T13:26:31.496" v="0" actId="20577"/>
          <ac:spMkLst>
            <pc:docMk/>
            <pc:sldMk cId="1959964783" sldId="262"/>
            <ac:spMk id="4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E2157-88C3-4346-85DE-0EC15350048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7B558-05D9-4D28-A217-7239B98B247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93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FC60E-702B-45EB-AF8D-AD6B8B43531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FB797-0248-4D94-AC94-141772C2BE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11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68D770-6A0A-478F-B62D-7CC3E6B77B04}" type="slidenum">
              <a:rPr lang="en-GB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>
              <a:latin typeface="Arial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054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40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6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18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6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1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3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56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2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9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7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55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0CAAF8-3847-4574-A09A-40B47B8399E4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628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81C180-B16F-4091-967F-7DC1B7CB701A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136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31CFB3-BAC5-4220-A0AA-B7F2B3637C3B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674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41CA8E-53FF-4D77-B11F-2F1BF0C5DFBA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709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A7AAF9-BD1D-4F26-BE1F-3A7581474D35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27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1812AB-0BD1-48DD-8D88-DDF887098E80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344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44217F-1E46-4BEA-A6A8-60F264794646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126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F30B0B-1572-4D79-BB06-BC32B3CCDC40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6125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716D4-CCB0-4A0D-A33C-82CD48DFD768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7529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F7C039-0419-430F-99C4-FB7FDC839459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751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41317" y="1600201"/>
            <a:ext cx="2743200" cy="452596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8028517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21BFA6-59BF-4A89-8649-C29CB10D4D73}" type="slidenum">
              <a:rPr lang="en-GB">
                <a:solidFill>
                  <a:srgbClr val="000000"/>
                </a:solidFill>
              </a:rPr>
              <a:pPr/>
              <a:t>‹Nº›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57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11E88-5887-4CC7-8D40-F11F015540A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2E468-A212-4B50-B3D1-0D78F493428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6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717" y="3659188"/>
            <a:ext cx="10972800" cy="84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Haga clic para cambiar el estilo de título	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65E0DB5-54F4-46E2-ACAD-BFBF2BF5673D}" type="slidenum">
              <a:rPr lang="en-GB" smtClean="0">
                <a:solidFill>
                  <a:srgbClr val="000000"/>
                </a:solidFill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n-GB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13318" name="Line 7"/>
          <p:cNvSpPr>
            <a:spLocks noChangeShapeType="1"/>
          </p:cNvSpPr>
          <p:nvPr userDrawn="1"/>
        </p:nvSpPr>
        <p:spPr bwMode="auto">
          <a:xfrm flipH="1">
            <a:off x="673101" y="4503738"/>
            <a:ext cx="1090083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sz="1800">
              <a:solidFill>
                <a:srgbClr val="000000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665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Base Line Architectures for Channel Fusion</a:t>
            </a:r>
            <a:endParaRPr lang="en-GB" b="1" dirty="0">
              <a:ea typeface="ＭＳ Ｐゴシック" pitchFamily="34" charset="-128"/>
            </a:endParaRPr>
          </a:p>
        </p:txBody>
      </p:sp>
      <p:pic>
        <p:nvPicPr>
          <p:cNvPr id="3" name="10 Imagen" descr="logo_e_landscap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356" y="234445"/>
            <a:ext cx="1498997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D:\users\enric\ETSE\logos\UAB\logoUAB_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58290" y="193964"/>
            <a:ext cx="124658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3364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8761"/>
            <a:ext cx="10515600" cy="1325563"/>
          </a:xfrm>
        </p:spPr>
        <p:txBody>
          <a:bodyPr/>
          <a:lstStyle/>
          <a:p>
            <a:r>
              <a:rPr lang="en-US" dirty="0"/>
              <a:t>EEG Signals</a:t>
            </a:r>
          </a:p>
        </p:txBody>
      </p:sp>
      <p:pic>
        <p:nvPicPr>
          <p:cNvPr id="129" name="Imagen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8" y="1063179"/>
            <a:ext cx="3990109" cy="4059155"/>
          </a:xfrm>
          <a:prstGeom prst="rect">
            <a:avLst/>
          </a:prstGeom>
        </p:spPr>
      </p:pic>
      <p:pic>
        <p:nvPicPr>
          <p:cNvPr id="130" name="Imagen 1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248" y="115743"/>
            <a:ext cx="3678304" cy="3671455"/>
          </a:xfrm>
          <a:prstGeom prst="rect">
            <a:avLst/>
          </a:prstGeom>
        </p:spPr>
      </p:pic>
      <p:sp>
        <p:nvSpPr>
          <p:cNvPr id="132" name="CuadroTexto 131"/>
          <p:cNvSpPr txBox="1"/>
          <p:nvPr/>
        </p:nvSpPr>
        <p:spPr>
          <a:xfrm>
            <a:off x="9760527" y="3653347"/>
            <a:ext cx="2951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seizure</a:t>
            </a:r>
          </a:p>
        </p:txBody>
      </p:sp>
      <p:pic>
        <p:nvPicPr>
          <p:cNvPr id="133" name="Imagen 1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887" y="1635798"/>
            <a:ext cx="3629361" cy="3622603"/>
          </a:xfrm>
          <a:prstGeom prst="rect">
            <a:avLst/>
          </a:prstGeom>
        </p:spPr>
      </p:pic>
      <p:sp>
        <p:nvSpPr>
          <p:cNvPr id="134" name="CuadroTexto 133"/>
          <p:cNvSpPr txBox="1"/>
          <p:nvPr/>
        </p:nvSpPr>
        <p:spPr>
          <a:xfrm>
            <a:off x="5798127" y="1110564"/>
            <a:ext cx="2951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normal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617518" y="5865388"/>
            <a:ext cx="8361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Nchannel</a:t>
            </a:r>
            <a:r>
              <a:rPr lang="en-US" sz="2400" dirty="0"/>
              <a:t> EEG temporal signals recorded from same subject</a:t>
            </a:r>
          </a:p>
        </p:txBody>
      </p:sp>
    </p:spTree>
    <p:extLst>
      <p:ext uri="{BB962C8B-B14F-4D97-AF65-F5344CB8AC3E}">
        <p14:creationId xmlns:p14="http://schemas.microsoft.com/office/powerpoint/2010/main" val="218909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782" y="0"/>
            <a:ext cx="10515600" cy="1325563"/>
          </a:xfrm>
        </p:spPr>
        <p:txBody>
          <a:bodyPr/>
          <a:lstStyle/>
          <a:p>
            <a:r>
              <a:rPr lang="en-US" dirty="0"/>
              <a:t>Input Data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2588" t="40362" r="80476" b="35474"/>
          <a:stretch/>
        </p:blipFill>
        <p:spPr>
          <a:xfrm>
            <a:off x="466193" y="2181729"/>
            <a:ext cx="762000" cy="7232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/>
          <a:srcRect l="76939" t="33445" r="15530" b="33954"/>
          <a:stretch/>
        </p:blipFill>
        <p:spPr>
          <a:xfrm>
            <a:off x="5144370" y="2224750"/>
            <a:ext cx="827314" cy="8036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/>
          <a:srcRect l="16497" t="39630" r="76567" b="36206"/>
          <a:stretch/>
        </p:blipFill>
        <p:spPr>
          <a:xfrm>
            <a:off x="1460405" y="2181729"/>
            <a:ext cx="762000" cy="7232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/>
          <a:srcRect l="40460" t="21390" r="55762" b="17252"/>
          <a:stretch/>
        </p:blipFill>
        <p:spPr>
          <a:xfrm>
            <a:off x="3549735" y="1688102"/>
            <a:ext cx="486939" cy="14938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15776" t="29924" r="60734" b="27555"/>
          <a:stretch/>
        </p:blipFill>
        <p:spPr>
          <a:xfrm>
            <a:off x="5811749" y="4883376"/>
            <a:ext cx="481816" cy="16269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4"/>
          <a:srcRect l="48234" t="27745" r="32673" b="29073"/>
          <a:stretch/>
        </p:blipFill>
        <p:spPr>
          <a:xfrm>
            <a:off x="1947905" y="4854904"/>
            <a:ext cx="489090" cy="17161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5"/>
          <a:srcRect l="13025" t="21180" r="76891" b="20486"/>
          <a:stretch/>
        </p:blipFill>
        <p:spPr>
          <a:xfrm>
            <a:off x="335973" y="5449292"/>
            <a:ext cx="576199" cy="8495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5"/>
          <a:srcRect l="13025" t="21180" r="76891" b="20486"/>
          <a:stretch/>
        </p:blipFill>
        <p:spPr>
          <a:xfrm>
            <a:off x="1057905" y="5449292"/>
            <a:ext cx="576199" cy="8495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2"/>
          <a:srcRect l="62274" t="39581" r="30195" b="27818"/>
          <a:stretch/>
        </p:blipFill>
        <p:spPr>
          <a:xfrm>
            <a:off x="4962456" y="5402628"/>
            <a:ext cx="562890" cy="9758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2"/>
          <a:srcRect l="63198" t="37171" r="29271" b="30228"/>
          <a:stretch/>
        </p:blipFill>
        <p:spPr>
          <a:xfrm>
            <a:off x="6135806" y="2204867"/>
            <a:ext cx="827314" cy="8036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2"/>
          <a:srcRect l="28451" t="34595" r="64018" b="32804"/>
          <a:stretch/>
        </p:blipFill>
        <p:spPr>
          <a:xfrm>
            <a:off x="2410031" y="2181729"/>
            <a:ext cx="827314" cy="7513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Imagen 16"/>
          <p:cNvPicPr>
            <a:picLocks noChangeAspect="1"/>
          </p:cNvPicPr>
          <p:nvPr/>
        </p:nvPicPr>
        <p:blipFill rotWithShape="1">
          <a:blip r:embed="rId4"/>
          <a:srcRect l="32781" t="27745" r="48649" b="29073"/>
          <a:stretch/>
        </p:blipFill>
        <p:spPr>
          <a:xfrm>
            <a:off x="2570846" y="4826432"/>
            <a:ext cx="580571" cy="17161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2"/>
          <a:srcRect l="67766" t="39581" r="26520" b="32723"/>
          <a:stretch/>
        </p:blipFill>
        <p:spPr>
          <a:xfrm>
            <a:off x="4171101" y="5402628"/>
            <a:ext cx="638954" cy="8290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2"/>
          <a:srcRect l="61016" t="39581" r="32907" b="27818"/>
          <a:stretch/>
        </p:blipFill>
        <p:spPr>
          <a:xfrm>
            <a:off x="3423898" y="5402628"/>
            <a:ext cx="667658" cy="9758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3"/>
          <a:srcRect l="33673" t="31028" r="50990" b="26451"/>
          <a:stretch/>
        </p:blipFill>
        <p:spPr>
          <a:xfrm>
            <a:off x="6406324" y="4904086"/>
            <a:ext cx="467555" cy="16269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Imagen 20"/>
          <p:cNvPicPr>
            <a:picLocks noChangeAspect="1"/>
          </p:cNvPicPr>
          <p:nvPr/>
        </p:nvPicPr>
        <p:blipFill rotWithShape="1">
          <a:blip r:embed="rId3"/>
          <a:srcRect l="38595" t="31856" r="46068" b="25623"/>
          <a:stretch/>
        </p:blipFill>
        <p:spPr>
          <a:xfrm>
            <a:off x="7035218" y="4875489"/>
            <a:ext cx="467555" cy="16269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Imagen 21"/>
          <p:cNvPicPr>
            <a:picLocks noChangeAspect="1"/>
          </p:cNvPicPr>
          <p:nvPr/>
        </p:nvPicPr>
        <p:blipFill rotWithShape="1">
          <a:blip r:embed="rId2"/>
          <a:srcRect l="42798" t="21390" r="52982" b="17252"/>
          <a:stretch/>
        </p:blipFill>
        <p:spPr>
          <a:xfrm>
            <a:off x="4190476" y="1688102"/>
            <a:ext cx="543750" cy="14938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CuadroTexto 10"/>
          <p:cNvSpPr txBox="1"/>
          <p:nvPr/>
        </p:nvSpPr>
        <p:spPr>
          <a:xfrm>
            <a:off x="8079012" y="1816101"/>
            <a:ext cx="39561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Signals are cut in temporal windows of 1 second</a:t>
            </a:r>
          </a:p>
          <a:p>
            <a:endParaRPr lang="en-US" sz="2400" dirty="0"/>
          </a:p>
          <a:p>
            <a:r>
              <a:rPr lang="en-US" sz="2400" dirty="0"/>
              <a:t>Each window is labelled as 0/1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3443273" y="1539211"/>
            <a:ext cx="1386157" cy="179171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ángulo 24"/>
          <p:cNvSpPr/>
          <p:nvPr/>
        </p:nvSpPr>
        <p:spPr>
          <a:xfrm>
            <a:off x="5672359" y="4845018"/>
            <a:ext cx="1902056" cy="172599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ángulo 25"/>
          <p:cNvSpPr/>
          <p:nvPr/>
        </p:nvSpPr>
        <p:spPr>
          <a:xfrm>
            <a:off x="335973" y="2141760"/>
            <a:ext cx="2943982" cy="89018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ángulo 26"/>
          <p:cNvSpPr/>
          <p:nvPr/>
        </p:nvSpPr>
        <p:spPr>
          <a:xfrm>
            <a:off x="1838922" y="4734178"/>
            <a:ext cx="1421981" cy="187929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ángulo 27"/>
          <p:cNvSpPr/>
          <p:nvPr/>
        </p:nvSpPr>
        <p:spPr>
          <a:xfrm>
            <a:off x="4984272" y="2181478"/>
            <a:ext cx="2259152" cy="89018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ángulo 28"/>
          <p:cNvSpPr/>
          <p:nvPr/>
        </p:nvSpPr>
        <p:spPr>
          <a:xfrm>
            <a:off x="138545" y="5307577"/>
            <a:ext cx="1647417" cy="105544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ángulo 29"/>
          <p:cNvSpPr/>
          <p:nvPr/>
        </p:nvSpPr>
        <p:spPr>
          <a:xfrm>
            <a:off x="3323628" y="5253651"/>
            <a:ext cx="2259152" cy="1240846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ángulo redondeado 22"/>
          <p:cNvSpPr/>
          <p:nvPr/>
        </p:nvSpPr>
        <p:spPr>
          <a:xfrm>
            <a:off x="148517" y="1235541"/>
            <a:ext cx="7435870" cy="2174979"/>
          </a:xfrm>
          <a:prstGeom prst="round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ángulo redondeado 35"/>
          <p:cNvSpPr/>
          <p:nvPr/>
        </p:nvSpPr>
        <p:spPr>
          <a:xfrm>
            <a:off x="27710" y="4350329"/>
            <a:ext cx="7716982" cy="2356648"/>
          </a:xfrm>
          <a:prstGeom prst="round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adroTexto 23"/>
          <p:cNvSpPr txBox="1"/>
          <p:nvPr/>
        </p:nvSpPr>
        <p:spPr>
          <a:xfrm>
            <a:off x="253629" y="1677018"/>
            <a:ext cx="190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S1_normal1</a:t>
            </a:r>
          </a:p>
        </p:txBody>
      </p:sp>
      <p:sp>
        <p:nvSpPr>
          <p:cNvPr id="37" name="CuadroTexto 36"/>
          <p:cNvSpPr txBox="1"/>
          <p:nvPr/>
        </p:nvSpPr>
        <p:spPr>
          <a:xfrm>
            <a:off x="5799927" y="1664600"/>
            <a:ext cx="135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S1_normal2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139399" y="4874083"/>
            <a:ext cx="135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SN_normal1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3326497" y="4789268"/>
            <a:ext cx="135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SN_normal2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148517" y="1038600"/>
            <a:ext cx="118151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Subject1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148517" y="4116042"/>
            <a:ext cx="118151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SubjectN</a:t>
            </a:r>
            <a:endParaRPr lang="en-US" dirty="0"/>
          </a:p>
        </p:txBody>
      </p:sp>
      <p:sp>
        <p:nvSpPr>
          <p:cNvPr id="42" name="CuadroTexto 41"/>
          <p:cNvSpPr txBox="1"/>
          <p:nvPr/>
        </p:nvSpPr>
        <p:spPr>
          <a:xfrm>
            <a:off x="3026958" y="1192146"/>
            <a:ext cx="190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S1_seizure1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1685444" y="4350329"/>
            <a:ext cx="190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SN_seizure1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5525346" y="4407069"/>
            <a:ext cx="190128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SN_seizure2</a:t>
            </a:r>
          </a:p>
        </p:txBody>
      </p:sp>
    </p:spTree>
    <p:extLst>
      <p:ext uri="{BB962C8B-B14F-4D97-AF65-F5344CB8AC3E}">
        <p14:creationId xmlns:p14="http://schemas.microsoft.com/office/powerpoint/2010/main" val="195996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Base Line Static Approach</a:t>
            </a:r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49" y="3210790"/>
            <a:ext cx="5224916" cy="2296891"/>
          </a:xfrm>
          <a:prstGeom prst="rect">
            <a:avLst/>
          </a:prstGeom>
        </p:spPr>
      </p:pic>
      <p:pic>
        <p:nvPicPr>
          <p:cNvPr id="5" name="Imagen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083" y="3210790"/>
            <a:ext cx="5208790" cy="228946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0" y="1325563"/>
            <a:ext cx="101969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Architecture that classifies a window </a:t>
            </a:r>
          </a:p>
          <a:p>
            <a:r>
              <a:rPr lang="en-US" sz="2400" dirty="0"/>
              <a:t>Different approaches to combine EEG electrode signals (Channel Fusion)</a:t>
            </a:r>
          </a:p>
          <a:p>
            <a:r>
              <a:rPr lang="en-US" sz="2400" dirty="0"/>
              <a:t> 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1266815" y="5682548"/>
            <a:ext cx="522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Fusion of EEG channels at input level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6850920" y="5682548"/>
            <a:ext cx="522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Fusion of EEG channels at output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48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Base Line Static Approach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38546" y="1325563"/>
            <a:ext cx="7481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Fusion Methods: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676400" y="2452254"/>
            <a:ext cx="7800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Concatenation (reshape)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Average (nn.AvgPool2d)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Weighted (trainable) average (nn.Conv1d)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9533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3782291" cy="1325563"/>
          </a:xfrm>
        </p:spPr>
        <p:txBody>
          <a:bodyPr/>
          <a:lstStyle/>
          <a:p>
            <a:r>
              <a:rPr lang="en-US" dirty="0"/>
              <a:t>Fusion at Input Level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949035" y="5038577"/>
            <a:ext cx="91440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Concatenation (reshape/flatten):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Nchannels</a:t>
            </a:r>
            <a:r>
              <a:rPr lang="en-US" sz="2400" dirty="0"/>
              <a:t>*L  (=21*128)]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Average (nn.AvgPool2d((Nchannels,1)): [</a:t>
            </a:r>
            <a:r>
              <a:rPr lang="en-US" sz="2400" dirty="0" err="1"/>
              <a:t>Nbatch</a:t>
            </a:r>
            <a:r>
              <a:rPr lang="en-US" sz="2400" dirty="0"/>
              <a:t>, 1, L 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Weighted (trainable) average (nn.Conv1d(Nchannel,1, kernel=</a:t>
            </a:r>
            <a:r>
              <a:rPr lang="en-US" sz="2400" dirty="0" err="1"/>
              <a:t>sze</a:t>
            </a:r>
            <a:r>
              <a:rPr lang="en-US" sz="2400" dirty="0"/>
              <a:t>)): [</a:t>
            </a:r>
            <a:r>
              <a:rPr lang="en-US" sz="2400" dirty="0" err="1"/>
              <a:t>Nbatch</a:t>
            </a:r>
            <a:r>
              <a:rPr lang="en-US" sz="2400" dirty="0"/>
              <a:t>, 1, L ]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CuadroTexto 3"/>
          <p:cNvSpPr txBox="1"/>
          <p:nvPr/>
        </p:nvSpPr>
        <p:spPr>
          <a:xfrm>
            <a:off x="131619" y="3637294"/>
            <a:ext cx="8416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 data to Fusion Unit: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Nchannels</a:t>
            </a:r>
            <a:r>
              <a:rPr lang="en-US" sz="2400" dirty="0"/>
              <a:t> (=21), L (=128)]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31619" y="4412165"/>
            <a:ext cx="3574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Fusion Unit: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645" y="129139"/>
            <a:ext cx="7021333" cy="3086602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5915891" y="129139"/>
            <a:ext cx="762000" cy="28218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09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3782291" cy="1325563"/>
          </a:xfrm>
        </p:spPr>
        <p:txBody>
          <a:bodyPr/>
          <a:lstStyle/>
          <a:p>
            <a:r>
              <a:rPr lang="en-US" dirty="0"/>
              <a:t>Fusion at Input Level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31619" y="3322136"/>
            <a:ext cx="9961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 data to Convolutional Unit: [</a:t>
            </a:r>
            <a:r>
              <a:rPr lang="en-US" sz="2400" dirty="0" err="1"/>
              <a:t>Nbatch</a:t>
            </a:r>
            <a:r>
              <a:rPr lang="en-US" sz="2400" dirty="0"/>
              <a:t>, 1, L] or [</a:t>
            </a:r>
            <a:r>
              <a:rPr lang="en-US" sz="2400" dirty="0" err="1"/>
              <a:t>Nbatch</a:t>
            </a:r>
            <a:r>
              <a:rPr lang="en-US" sz="2400" dirty="0"/>
              <a:t>, 1, </a:t>
            </a:r>
            <a:r>
              <a:rPr lang="en-US" sz="2400" dirty="0" err="1"/>
              <a:t>Nchannels</a:t>
            </a:r>
            <a:r>
              <a:rPr lang="en-US" sz="2400" dirty="0"/>
              <a:t>*L ]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645" y="129139"/>
            <a:ext cx="7021333" cy="3086602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6691744" y="22744"/>
            <a:ext cx="2036619" cy="28218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31619" y="4425697"/>
            <a:ext cx="111875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Convolutional Unit: NH sequential blocks [nn.Conv1d(</a:t>
            </a:r>
            <a:r>
              <a:rPr lang="en-US" sz="2400" dirty="0" err="1"/>
              <a:t>NChin_i,NChout_i,kernel</a:t>
            </a:r>
            <a:r>
              <a:rPr lang="en-US" sz="2400" dirty="0"/>
              <a:t>=</a:t>
            </a:r>
            <a:r>
              <a:rPr lang="en-US" sz="2400" dirty="0" err="1"/>
              <a:t>sze_i</a:t>
            </a:r>
            <a:r>
              <a:rPr lang="en-US" sz="2400" dirty="0"/>
              <a:t>), </a:t>
            </a:r>
            <a:r>
              <a:rPr lang="en-US" sz="2400" dirty="0" err="1"/>
              <a:t>Relu</a:t>
            </a:r>
            <a:r>
              <a:rPr lang="en-US" sz="2400" dirty="0"/>
              <a:t>, </a:t>
            </a:r>
            <a:r>
              <a:rPr lang="en-US" sz="2400" dirty="0" err="1"/>
              <a:t>MaxPooling</a:t>
            </a:r>
            <a:r>
              <a:rPr lang="en-US" sz="2400" dirty="0"/>
              <a:t>(</a:t>
            </a:r>
            <a:r>
              <a:rPr lang="en-US" sz="2400" dirty="0" err="1"/>
              <a:t>kernel_size</a:t>
            </a:r>
            <a:r>
              <a:rPr lang="en-US" sz="2400" dirty="0"/>
              <a:t>=</a:t>
            </a:r>
            <a:r>
              <a:rPr lang="en-US" sz="2400" dirty="0" err="1"/>
              <a:t>sze_pool</a:t>
            </a:r>
            <a:r>
              <a:rPr lang="en-US" sz="2400" dirty="0"/>
              <a:t>, stride=</a:t>
            </a:r>
            <a:r>
              <a:rPr lang="en-US" sz="2400" dirty="0" err="1"/>
              <a:t>sze_pool</a:t>
            </a:r>
            <a:r>
              <a:rPr lang="en-US" sz="2400" dirty="0"/>
              <a:t>)] with NChin_1=1</a:t>
            </a:r>
          </a:p>
          <a:p>
            <a:endParaRPr lang="en-US" sz="2400" dirty="0"/>
          </a:p>
          <a:p>
            <a:r>
              <a:rPr lang="en-US" sz="2400" dirty="0"/>
              <a:t>Output data: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NChout_NH</a:t>
            </a:r>
            <a:r>
              <a:rPr lang="en-US" sz="2400" dirty="0"/>
              <a:t>, L’], where L’ = L/</a:t>
            </a:r>
            <a:r>
              <a:rPr lang="en-US" sz="2400" dirty="0" err="1"/>
              <a:t>sze_pool</a:t>
            </a:r>
            <a:r>
              <a:rPr lang="en-US" sz="2400" dirty="0"/>
              <a:t>**NH</a:t>
            </a:r>
          </a:p>
        </p:txBody>
      </p:sp>
    </p:spTree>
    <p:extLst>
      <p:ext uri="{BB962C8B-B14F-4D97-AF65-F5344CB8AC3E}">
        <p14:creationId xmlns:p14="http://schemas.microsoft.com/office/powerpoint/2010/main" val="187080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3782291" cy="1325563"/>
          </a:xfrm>
        </p:spPr>
        <p:txBody>
          <a:bodyPr/>
          <a:lstStyle/>
          <a:p>
            <a:r>
              <a:rPr lang="en-US" dirty="0"/>
              <a:t>Fusion at Input Level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31619" y="3322136"/>
            <a:ext cx="9961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 data to Output Unit: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NChout_NH</a:t>
            </a:r>
            <a:r>
              <a:rPr lang="en-US" sz="2400" dirty="0"/>
              <a:t>, L’]</a:t>
            </a:r>
          </a:p>
          <a:p>
            <a:r>
              <a:rPr lang="en-US" sz="2400" dirty="0"/>
              <a:t>                      Important: It has to be converted to [</a:t>
            </a:r>
            <a:r>
              <a:rPr lang="en-US" sz="2400" dirty="0" err="1"/>
              <a:t>Nbatch,Nfeat</a:t>
            </a:r>
            <a:r>
              <a:rPr lang="en-US" sz="2400" dirty="0"/>
              <a:t>]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645" y="129139"/>
            <a:ext cx="7021333" cy="3086602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8728363" y="22744"/>
            <a:ext cx="983673" cy="28218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31619" y="4718430"/>
            <a:ext cx="111875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 Unit: Fully Connected layers [</a:t>
            </a:r>
            <a:r>
              <a:rPr lang="en-US" sz="2400" dirty="0" err="1"/>
              <a:t>nn.Linear</a:t>
            </a:r>
            <a:r>
              <a:rPr lang="en-US" sz="2400" dirty="0"/>
              <a:t>(</a:t>
            </a:r>
            <a:r>
              <a:rPr lang="en-US" sz="2400" dirty="0" err="1"/>
              <a:t>NChin_i,NChout_i</a:t>
            </a:r>
            <a:r>
              <a:rPr lang="en-US" sz="2400" dirty="0"/>
              <a:t>)], with NChin_1=Number of Features (</a:t>
            </a:r>
            <a:r>
              <a:rPr lang="en-US" sz="2400" dirty="0" err="1"/>
              <a:t>Nfeat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Output data: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Nclass</a:t>
            </a:r>
            <a:r>
              <a:rPr lang="en-US" sz="2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45593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3782291" cy="1325563"/>
          </a:xfrm>
        </p:spPr>
        <p:txBody>
          <a:bodyPr/>
          <a:lstStyle/>
          <a:p>
            <a:r>
              <a:rPr lang="en-US" dirty="0"/>
              <a:t>Fusion at Feature Level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31619" y="3594022"/>
            <a:ext cx="9961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 data to Convolutional Unit: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Nchannels</a:t>
            </a:r>
            <a:r>
              <a:rPr lang="en-US" sz="2400" dirty="0"/>
              <a:t> (=21), L (=128)]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408709" y="4448700"/>
            <a:ext cx="116447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Convolutional Unit: NH sequential blocks [nn.Conv2d(</a:t>
            </a:r>
            <a:r>
              <a:rPr lang="en-US" sz="2400" dirty="0" err="1"/>
              <a:t>NChin_i,NChout_i,kernel</a:t>
            </a:r>
            <a:r>
              <a:rPr lang="en-US" sz="2400" dirty="0"/>
              <a:t>=(1,sze_i)), </a:t>
            </a:r>
            <a:r>
              <a:rPr lang="en-US" sz="2400" dirty="0" err="1"/>
              <a:t>Relu</a:t>
            </a:r>
            <a:r>
              <a:rPr lang="en-US" sz="2400" dirty="0"/>
              <a:t>, MaxPooling2d(</a:t>
            </a:r>
            <a:r>
              <a:rPr lang="en-US" sz="2400" dirty="0" err="1"/>
              <a:t>kernel_size</a:t>
            </a:r>
            <a:r>
              <a:rPr lang="en-US" sz="2400" dirty="0"/>
              <a:t>=(1,sze_pool), stride=(1,sze_pool))] with NChin_1=1</a:t>
            </a:r>
          </a:p>
          <a:p>
            <a:endParaRPr lang="en-US" sz="2400" dirty="0"/>
          </a:p>
          <a:p>
            <a:r>
              <a:rPr lang="en-US" sz="2400" dirty="0"/>
              <a:t>Output data: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NChout_NH</a:t>
            </a:r>
            <a:r>
              <a:rPr lang="en-US" sz="2400" dirty="0"/>
              <a:t>, </a:t>
            </a:r>
            <a:r>
              <a:rPr lang="en-US" sz="2400" dirty="0" err="1"/>
              <a:t>Nchannels</a:t>
            </a:r>
            <a:r>
              <a:rPr lang="en-US" sz="2400" dirty="0"/>
              <a:t>(=21), L’], where L’ = L/</a:t>
            </a:r>
            <a:r>
              <a:rPr lang="en-US" sz="2400" dirty="0" err="1"/>
              <a:t>sze_pool</a:t>
            </a:r>
            <a:r>
              <a:rPr lang="en-US" sz="2400" dirty="0"/>
              <a:t>**NH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045" y="88092"/>
            <a:ext cx="7134571" cy="3135920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5957453" y="0"/>
            <a:ext cx="2007573" cy="29650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82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3782291" cy="1325563"/>
          </a:xfrm>
        </p:spPr>
        <p:txBody>
          <a:bodyPr/>
          <a:lstStyle/>
          <a:p>
            <a:r>
              <a:rPr lang="en-US" dirty="0"/>
              <a:t>Fusion at Feature Level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949034" y="4866082"/>
            <a:ext cx="107303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Concatenation (reshape/flatten):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NChout_NH</a:t>
            </a:r>
            <a:r>
              <a:rPr lang="en-US" sz="2400" dirty="0"/>
              <a:t> ,</a:t>
            </a:r>
            <a:r>
              <a:rPr lang="en-US" sz="2400" dirty="0" err="1"/>
              <a:t>Nchannels</a:t>
            </a:r>
            <a:r>
              <a:rPr lang="en-US" sz="2400" dirty="0"/>
              <a:t>*L’  (=21*L’)]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Average (nn.AvgPool2d((Nchannels,1)):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NChout_NH</a:t>
            </a:r>
            <a:r>
              <a:rPr lang="en-US" sz="2400" dirty="0"/>
              <a:t>, 1, L’ 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Weighted (trainable) average (nn.Conv2d(</a:t>
            </a:r>
            <a:r>
              <a:rPr lang="en-US" sz="2400" dirty="0" err="1"/>
              <a:t>Nchannels</a:t>
            </a:r>
            <a:r>
              <a:rPr lang="en-US" sz="2400" dirty="0"/>
              <a:t>, 1, kernel=(1,1)): [</a:t>
            </a:r>
            <a:r>
              <a:rPr lang="en-US" sz="2400" dirty="0" err="1"/>
              <a:t>Nbatch</a:t>
            </a:r>
            <a:r>
              <a:rPr lang="en-US" sz="2400" dirty="0"/>
              <a:t>, 1,  </a:t>
            </a:r>
            <a:r>
              <a:rPr lang="en-US" sz="2400" dirty="0" err="1"/>
              <a:t>NChout_NH</a:t>
            </a:r>
            <a:r>
              <a:rPr lang="en-US" sz="2400" dirty="0"/>
              <a:t>,  L’ ]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CuadroTexto 3"/>
          <p:cNvSpPr txBox="1"/>
          <p:nvPr/>
        </p:nvSpPr>
        <p:spPr>
          <a:xfrm>
            <a:off x="138135" y="3454242"/>
            <a:ext cx="9746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 data to Fusion Unit: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NChout_NH</a:t>
            </a:r>
            <a:r>
              <a:rPr lang="en-US" sz="2400" dirty="0"/>
              <a:t>, </a:t>
            </a:r>
            <a:r>
              <a:rPr lang="en-US" sz="2400" dirty="0" err="1"/>
              <a:t>Nchannels</a:t>
            </a:r>
            <a:r>
              <a:rPr lang="en-US" sz="2400" dirty="0"/>
              <a:t> (=21), L’ ] for 1,2</a:t>
            </a:r>
          </a:p>
          <a:p>
            <a:r>
              <a:rPr lang="en-US" sz="2400" dirty="0"/>
              <a:t>                                               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Nchannels</a:t>
            </a:r>
            <a:r>
              <a:rPr lang="en-US" sz="2400" dirty="0"/>
              <a:t> (=21), </a:t>
            </a:r>
            <a:r>
              <a:rPr lang="en-US" sz="2400" dirty="0" err="1"/>
              <a:t>NChout_NH</a:t>
            </a:r>
            <a:r>
              <a:rPr lang="en-US" sz="2400" dirty="0"/>
              <a:t>, L’ ] for 3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207817" y="4380976"/>
            <a:ext cx="3574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Fusion Unit: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682" y="159161"/>
            <a:ext cx="7134571" cy="3135920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8049491" y="0"/>
            <a:ext cx="705244" cy="29650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65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3782291" cy="1325563"/>
          </a:xfrm>
        </p:spPr>
        <p:txBody>
          <a:bodyPr/>
          <a:lstStyle/>
          <a:p>
            <a:r>
              <a:rPr lang="en-US" dirty="0"/>
              <a:t>Fusion at Feature Level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31619" y="3322136"/>
            <a:ext cx="9961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 data to Output Unit: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NChout_NH</a:t>
            </a:r>
            <a:r>
              <a:rPr lang="en-US" sz="2400" dirty="0"/>
              <a:t>, L’]</a:t>
            </a:r>
          </a:p>
          <a:p>
            <a:r>
              <a:rPr lang="en-US" sz="2400" dirty="0"/>
              <a:t>                      Important: It has to be converted to [</a:t>
            </a:r>
            <a:r>
              <a:rPr lang="en-US" sz="2400" dirty="0" err="1"/>
              <a:t>Nbatch,Nfeat</a:t>
            </a:r>
            <a:r>
              <a:rPr lang="en-US" sz="2400" dirty="0"/>
              <a:t>]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645" y="129139"/>
            <a:ext cx="7021333" cy="3086602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8728363" y="22744"/>
            <a:ext cx="983673" cy="28218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31619" y="4718430"/>
            <a:ext cx="111875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 Unit</a:t>
            </a:r>
            <a:r>
              <a:rPr lang="en-US" sz="2400"/>
              <a:t>: Fully </a:t>
            </a:r>
            <a:r>
              <a:rPr lang="en-US" sz="2400" dirty="0"/>
              <a:t>Connected layers [</a:t>
            </a:r>
            <a:r>
              <a:rPr lang="en-US" sz="2400" dirty="0" err="1"/>
              <a:t>nn.Linear</a:t>
            </a:r>
            <a:r>
              <a:rPr lang="en-US" sz="2400" dirty="0"/>
              <a:t>(</a:t>
            </a:r>
            <a:r>
              <a:rPr lang="en-US" sz="2400" dirty="0" err="1"/>
              <a:t>NChin_i,NChout_i</a:t>
            </a:r>
            <a:r>
              <a:rPr lang="en-US" sz="2400" dirty="0"/>
              <a:t>)], with NChin_1=Number of Features (</a:t>
            </a:r>
            <a:r>
              <a:rPr lang="en-US" sz="2400" dirty="0" err="1"/>
              <a:t>Nfeat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Output data: [</a:t>
            </a:r>
            <a:r>
              <a:rPr lang="en-US" sz="2400" dirty="0" err="1"/>
              <a:t>Nbatch</a:t>
            </a:r>
            <a:r>
              <a:rPr lang="en-US" sz="2400" dirty="0"/>
              <a:t>, </a:t>
            </a:r>
            <a:r>
              <a:rPr lang="en-US" sz="2400" dirty="0" err="1"/>
              <a:t>Nclass</a:t>
            </a:r>
            <a:r>
              <a:rPr lang="en-US" sz="2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164887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Diseño personaliz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ersonaliz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ersonaliz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ersonaliz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ersonaliz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ersonaliz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ersonaliz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ersonaliz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662</Words>
  <Application>Microsoft Office PowerPoint</Application>
  <PresentationFormat>Panorámica</PresentationFormat>
  <Paragraphs>67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ＭＳ Ｐゴシック</vt:lpstr>
      <vt:lpstr>Arial</vt:lpstr>
      <vt:lpstr>Calibri</vt:lpstr>
      <vt:lpstr>Calibri Light</vt:lpstr>
      <vt:lpstr>Tema de Office</vt:lpstr>
      <vt:lpstr>Diseño personalizado</vt:lpstr>
      <vt:lpstr>Base Line Architectures for Channel Fusion</vt:lpstr>
      <vt:lpstr>EEG Signals</vt:lpstr>
      <vt:lpstr>Input Data</vt:lpstr>
      <vt:lpstr>Base Line Static Approach</vt:lpstr>
      <vt:lpstr>Base Line Static Approach</vt:lpstr>
      <vt:lpstr>Fusion at Input Level</vt:lpstr>
      <vt:lpstr>Fusion at Input Level</vt:lpstr>
      <vt:lpstr>Fusion at Input Level</vt:lpstr>
      <vt:lpstr>Fusion at Feature Level</vt:lpstr>
      <vt:lpstr>Fusion at Feature Level</vt:lpstr>
      <vt:lpstr>Fusion at Feature Level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Debora Gil</dc:creator>
  <cp:lastModifiedBy>Debora Gil Resina</cp:lastModifiedBy>
  <cp:revision>35</cp:revision>
  <cp:lastPrinted>2022-11-07T19:13:20Z</cp:lastPrinted>
  <dcterms:created xsi:type="dcterms:W3CDTF">2022-11-07T17:52:08Z</dcterms:created>
  <dcterms:modified xsi:type="dcterms:W3CDTF">2025-12-02T10:59:23Z</dcterms:modified>
</cp:coreProperties>
</file>